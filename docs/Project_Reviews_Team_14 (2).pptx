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slideMasters/slideMaster1.xml" ContentType="application/vnd.openxmlformats-officedocument.presentationml.slideMaster+xml"/>
  <Override PartName="/ppt/slideMasters/slideMaster12.xml" ContentType="application/vnd.openxmlformats-officedocument.presentationml.slideMaster+xml"/>
  <Override PartName="/ppt/theme/theme1.xml" ContentType="application/vnd.openxmlformats-officedocument.theme+xml"/>
  <Override PartName="/ppt/theme/theme23.xml" ContentType="application/vnd.openxmlformats-officedocument.theme+xml"/>
  <Override PartName="/ppt/theme/theme2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media/image3.svg" ContentType="image/sv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presProps" Target="presProps.xml"/>
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" qsCatId="3D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914400">
              <a:lnSpc>
                <a:spcPct val="90000"/>
              </a:lnSpc>
              <a:tabLst>
                <a:tab pos="0" algn="l"/>
              </a:tabLst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move the slide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PlaceHolder 4"/>
          <p:cNvSpPr>
            <a:spLocks noGrp="1"/>
          </p:cNvSpPr>
          <p:nvPr>
            <p:ph type="dt" idx="67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PlaceHolder 5"/>
          <p:cNvSpPr>
            <a:spLocks noGrp="1"/>
          </p:cNvSpPr>
          <p:nvPr>
            <p:ph type="ftr" idx="68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PlaceHolder 6"/>
          <p:cNvSpPr>
            <a:spLocks noGrp="1"/>
          </p:cNvSpPr>
          <p:nvPr>
            <p:ph type="sldNum" idx="69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C42FC6E1-CC25-40D6-974C-3ADD73D05028}" type="slidenum"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PlaceHolder 3"/>
          <p:cNvSpPr>
            <a:spLocks noGrp="1"/>
          </p:cNvSpPr>
          <p:nvPr>
            <p:ph type="sldNum" idx="75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A7A3275-805A-467B-B965-9EC7D5F889C9}" type="slidenum">
              <a:rPr lang="en-IN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0400" cy="435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0400" cy="435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9236ABF-DEDF-4805-9491-E3B24C0A1990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6640" cy="822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6640" cy="3683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200" cy="822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200" cy="3683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3" name="PlaceHolder 6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7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8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8E3954D-306F-42C1-90C7-89AFC75DB1C7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15BCAEE-C830-4FD0-B160-2EF3F795E34A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DBC5A25-4486-49D2-B64B-81F7B88A8975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200" cy="1599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120" cy="4872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200" cy="381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6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D8E4BD9-071D-496F-A1DA-850E9414D8ED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200" cy="1599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120" cy="4872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9144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3716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8288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7432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200" cy="381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ADA2201-4404-4AE4-A15C-7B47B53F15D6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tabLst>
                <a:tab pos="0" algn="l"/>
              </a:tabLst>
              <a:def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E0A3A8C-C9AA-4095-AA3B-FBDCAC6857A3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C9FE0DB-B400-40D1-89F9-9AC6F61682CB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000" cy="5810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160" cy="5810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A4BC982-8684-4651-9666-7BE71435FC73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5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71C1BF7-7476-4E93-9D7A-E55D138F4234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4520" cy="2851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4520" cy="1499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400" b="0" u="none" strike="noStrike">
              <a:solidFill>
                <a:schemeClr val="dk1">
                  <a:tint val="82000"/>
                </a:schemeClr>
              </a:solidFill>
              <a:effectLst/>
              <a:uFillTx/>
              <a:latin typeface="Aptos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PlaceHolder 5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A3E65DC-639F-4CFF-9B1C-26CF46C74F91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0400" cy="435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0400" cy="435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dt" idx="34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5"/>
          <p:cNvSpPr>
            <a:spLocks noGrp="1"/>
          </p:cNvSpPr>
          <p:nvPr>
            <p:ph type="ftr" idx="35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PlaceHolder 6"/>
          <p:cNvSpPr>
            <a:spLocks noGrp="1"/>
          </p:cNvSpPr>
          <p:nvPr>
            <p:ph type="sldNum" idx="36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32EFA0A-F1D7-4AFF-88D1-D7B5E78C0728}" type="slidenum"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6640" cy="822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6640" cy="3683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200" cy="822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2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200" cy="3683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3" name="PlaceHolder 6"/>
          <p:cNvSpPr>
            <a:spLocks noGrp="1"/>
          </p:cNvSpPr>
          <p:nvPr>
            <p:ph type="dt" idx="37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PlaceHolder 7"/>
          <p:cNvSpPr>
            <a:spLocks noGrp="1"/>
          </p:cNvSpPr>
          <p:nvPr>
            <p:ph type="ftr" idx="38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PlaceHolder 8"/>
          <p:cNvSpPr>
            <a:spLocks noGrp="1"/>
          </p:cNvSpPr>
          <p:nvPr>
            <p:ph type="sldNum" idx="39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042DD57-2D72-4232-81DA-6AA4FD36AAB3}" type="slidenum"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dt" idx="40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ftr" idx="41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 type="sldNum" idx="42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D964F15-591D-4664-9DE7-7693CD17A4E9}" type="slidenum"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dt" idx="43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ftr" idx="44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PlaceHolder 3"/>
          <p:cNvSpPr>
            <a:spLocks noGrp="1"/>
          </p:cNvSpPr>
          <p:nvPr>
            <p:ph type="sldNum" idx="45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69130FA-02B1-4D7C-88BE-0F655AE95478}" type="slidenum"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8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200" cy="1599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120" cy="4872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200" cy="381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8" name="PlaceHolder 4"/>
          <p:cNvSpPr>
            <a:spLocks noGrp="1"/>
          </p:cNvSpPr>
          <p:nvPr>
            <p:ph type="dt" idx="46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PlaceHolder 5"/>
          <p:cNvSpPr>
            <a:spLocks noGrp="1"/>
          </p:cNvSpPr>
          <p:nvPr>
            <p:ph type="ftr" idx="47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PlaceHolder 6"/>
          <p:cNvSpPr>
            <a:spLocks noGrp="1"/>
          </p:cNvSpPr>
          <p:nvPr>
            <p:ph type="sldNum" idx="48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BA68358-1E98-4CA6-AE4A-48AB85B50F75}" type="slidenum"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200" cy="1599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120" cy="4872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icon to add picture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200" cy="381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4" name="PlaceHolder 4"/>
          <p:cNvSpPr>
            <a:spLocks noGrp="1"/>
          </p:cNvSpPr>
          <p:nvPr>
            <p:ph type="dt" idx="49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PlaceHolder 5"/>
          <p:cNvSpPr>
            <a:spLocks noGrp="1"/>
          </p:cNvSpPr>
          <p:nvPr>
            <p:ph type="ftr" idx="50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PlaceHolder 6"/>
          <p:cNvSpPr>
            <a:spLocks noGrp="1"/>
          </p:cNvSpPr>
          <p:nvPr>
            <p:ph type="sldNum" idx="51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4A08079-E731-4B37-9583-3BF9DCEF7E76}" type="slidenum"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tabLst>
                <a:tab pos="0" algn="l"/>
              </a:tabLst>
              <a:defRPr lang="en-U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 type="dt" idx="52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 type="ftr" idx="53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PlaceHolder 4"/>
          <p:cNvSpPr>
            <a:spLocks noGrp="1"/>
          </p:cNvSpPr>
          <p:nvPr>
            <p:ph type="sldNum" idx="54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EF3E28E-036E-448B-97C3-B1212E9889C5}" type="slidenum"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Default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 type="dt" idx="55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PlaceHolder 4"/>
          <p:cNvSpPr>
            <a:spLocks noGrp="1"/>
          </p:cNvSpPr>
          <p:nvPr>
            <p:ph type="ftr" idx="56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PlaceHolder 5"/>
          <p:cNvSpPr>
            <a:spLocks noGrp="1"/>
          </p:cNvSpPr>
          <p:nvPr>
            <p:ph type="sldNum" idx="57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EAA3BE6-5BEB-4B9E-9364-FF1BFB54B3B5}" type="slidenum"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Default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000" cy="5810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160" cy="5810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 type="dt" idx="58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PlaceHolder 4"/>
          <p:cNvSpPr>
            <a:spLocks noGrp="1"/>
          </p:cNvSpPr>
          <p:nvPr>
            <p:ph type="ftr" idx="59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PlaceHolder 5"/>
          <p:cNvSpPr>
            <a:spLocks noGrp="1"/>
          </p:cNvSpPr>
          <p:nvPr>
            <p:ph type="sldNum" idx="60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C3BF3EC-7D70-48A0-ABB7-CD1D98F9244D}" type="slidenum"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dt" idx="61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 type="ftr" idx="62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 type="sldNum" idx="63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FE8843E-A93F-4C47-B66E-C5FBF600BD1E}" type="slidenum"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4520" cy="2851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4520" cy="1499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dt" idx="64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 type="ftr" idx="65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 type="sldNum" idx="66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6015398-5015-427B-8DCB-B5F767318484}" type="slidenum"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svg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image" Target="../media/image2.png"/><Relationship Id="rId6" Type="http://schemas.openxmlformats.org/officeDocument/2006/relationships/image" Target="../media/image3.svg"/><Relationship Id="rId7" Type="http://schemas.openxmlformats.org/officeDocument/2006/relationships/image" Target="../media/image2.png"/><Relationship Id="rId8" Type="http://schemas.openxmlformats.org/officeDocument/2006/relationships/image" Target="../media/image3.svg"/><Relationship Id="rId9" Type="http://schemas.openxmlformats.org/officeDocument/2006/relationships/image" Target="../media/image2.png"/><Relationship Id="rId10" Type="http://schemas.openxmlformats.org/officeDocument/2006/relationships/image" Target="../media/image3.svg"/><Relationship Id="rId11" Type="http://schemas.openxmlformats.org/officeDocument/2006/relationships/image" Target="../media/image2.png"/><Relationship Id="rId12" Type="http://schemas.openxmlformats.org/officeDocument/2006/relationships/image" Target="../media/image3.svg"/><Relationship Id="rId13" Type="http://schemas.openxmlformats.org/officeDocument/2006/relationships/image" Target="../media/image2.png"/><Relationship Id="rId14" Type="http://schemas.openxmlformats.org/officeDocument/2006/relationships/image" Target="../media/image3.svg"/><Relationship Id="rId15" Type="http://schemas.openxmlformats.org/officeDocument/2006/relationships/diagramData" Target="../diagrams/data1.xml"/><Relationship Id="rId16" Type="http://schemas.openxmlformats.org/officeDocument/2006/relationships/diagramLayout" Target="../diagrams/layout1.xml"/><Relationship Id="rId17" Type="http://schemas.openxmlformats.org/officeDocument/2006/relationships/diagramQuickStyle" Target="../diagrams/quickStyle1.xml"/><Relationship Id="rId18" Type="http://schemas.openxmlformats.org/officeDocument/2006/relationships/diagramColors" Target="../diagrams/colors1.xml"/><Relationship Id="rId19" Type="http://schemas.openxmlformats.org/officeDocument/2006/relationships/image" Target="../media/image1.png"/><Relationship Id="rId20" Type="http://schemas.openxmlformats.org/officeDocument/2006/relationships/slideLayout" Target="../slideLayouts/slideLayout1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extBox 15"/>
          <p:cNvSpPr/>
          <p:nvPr/>
        </p:nvSpPr>
        <p:spPr>
          <a:xfrm>
            <a:off x="2995560" y="2868120"/>
            <a:ext cx="6199560" cy="491400"/>
          </a:xfrm>
          <a:prstGeom prst="rect">
            <a:avLst/>
          </a:prstGeom>
          <a:noFill/>
          <a:ln w="0">
            <a:noFill/>
          </a:ln>
          <a:effectLst>
            <a:glow rad="139680">
              <a:srgbClr val="FF6A1C">
                <a:alpha val="40000"/>
              </a:srgbClr>
            </a:glo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endParaRPr lang="en-IN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IN" sz="2000" b="1" u="none" strike="noStrike">
                <a:solidFill>
                  <a:srgbClr val="FF0000"/>
                </a:solidFill>
                <a:effectLst/>
                <a:uFillTx/>
                <a:latin typeface="Times New Roman"/>
              </a:rPr>
              <a:t>Date&amp; Time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28" name="Table 17"/>
          <p:cNvGraphicFramePr/>
          <p:nvPr/>
        </p:nvGraphicFramePr>
        <p:xfrm>
          <a:off x="8193240" y="4898520"/>
          <a:ext cx="3701520" cy="1006200"/>
        </p:xfrm>
        <a:graphic>
          <a:graphicData uri="http://schemas.openxmlformats.org/drawingml/2006/table">
            <a:tbl>
              <a:tblPr/>
              <a:tblGrid>
                <a:gridCol w="3701880"/>
              </a:tblGrid>
              <a:tr h="7520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IN" sz="1600" b="1" u="none" strike="noStrike">
                          <a:solidFill>
                            <a:srgbClr val="C00000"/>
                          </a:solidFill>
                          <a:effectLst/>
                          <a:uFillTx/>
                          <a:latin typeface="Times New Roman"/>
                        </a:rPr>
                        <a:t>Team Members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IN" sz="12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  <a:ea typeface="Cambria"/>
                        </a:rPr>
                        <a:t>Name Utkarsh, Dhanush, Rithish</a:t>
                      </a:r>
                      <a:endParaRPr lang="en-IN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IN" sz="12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  <a:ea typeface="Cambria"/>
                        </a:rPr>
                        <a:t>Roll Number: 2420090138, 2420090083, 2420030778</a:t>
                      </a:r>
                      <a:endParaRPr lang="en-IN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129" name="Group 20"/>
          <p:cNvGrpSpPr/>
          <p:nvPr/>
        </p:nvGrpSpPr>
        <p:grpSpPr>
          <a:xfrm>
            <a:off x="7981920" y="4742280"/>
            <a:ext cx="306720" cy="279360"/>
            <a:chOff x="7981920" y="4742280"/>
            <a:chExt cx="306720" cy="279360"/>
          </a:xfrm>
        </p:grpSpPr>
        <p:sp>
          <p:nvSpPr>
            <p:cNvPr id="130" name="Isosceles Triangle 21"/>
            <p:cNvSpPr/>
            <p:nvPr/>
          </p:nvSpPr>
          <p:spPr>
            <a:xfrm rot="8295000">
              <a:off x="8038440" y="4765680"/>
              <a:ext cx="159840" cy="231840"/>
            </a:xfrm>
            <a:prstGeom prst="triangle">
              <a:avLst>
                <a:gd name="adj" fmla="val 50000"/>
              </a:avLst>
            </a:prstGeom>
            <a:solidFill>
              <a:srgbClr val="FF66FF"/>
            </a:solidFill>
            <a:ln>
              <a:solidFill>
                <a:srgbClr val="092A3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79920" tIns="45000" rIns="79920" bIns="45000" anchor="ctr">
              <a:noAutofit/>
            </a:bodyPr>
            <a:p>
              <a:endParaRPr lang="en-IN" sz="1800" b="0" u="none" strike="noStrike">
                <a:solidFill>
                  <a:schemeClr val="lt1"/>
                </a:solidFill>
                <a:effectLst/>
                <a:highlight>
                  <a:srgbClr val="FFFF00"/>
                </a:highlight>
                <a:uFillTx/>
                <a:latin typeface="Aptos"/>
              </a:endParaRPr>
            </a:p>
          </p:txBody>
        </p:sp>
        <p:sp>
          <p:nvSpPr>
            <p:cNvPr id="131" name="Isosceles Triangle 22"/>
            <p:cNvSpPr/>
            <p:nvPr/>
          </p:nvSpPr>
          <p:spPr>
            <a:xfrm rot="11852400">
              <a:off x="8155440" y="4793040"/>
              <a:ext cx="113040" cy="152280"/>
            </a:xfrm>
            <a:prstGeom prst="triangle">
              <a:avLst>
                <a:gd name="adj" fmla="val 50000"/>
              </a:avLst>
            </a:prstGeom>
            <a:solidFill>
              <a:srgbClr val="FF66FF"/>
            </a:solidFill>
            <a:ln>
              <a:solidFill>
                <a:srgbClr val="092A3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56520" tIns="31680" rIns="56520" bIns="31680" anchor="ctr">
              <a:noAutofit/>
            </a:bodyPr>
            <a:p>
              <a:endParaRPr lang="en-IN" sz="1800" b="0" u="none" strike="noStrike">
                <a:solidFill>
                  <a:schemeClr val="lt1"/>
                </a:solidFill>
                <a:effectLst/>
                <a:uFillTx/>
                <a:latin typeface="Aptos"/>
              </a:endParaRPr>
            </a:p>
          </p:txBody>
        </p:sp>
      </p:grpSp>
      <p:graphicFrame>
        <p:nvGraphicFramePr>
          <p:cNvPr id="132" name="Table 29"/>
          <p:cNvGraphicFramePr/>
          <p:nvPr/>
        </p:nvGraphicFramePr>
        <p:xfrm>
          <a:off x="-795960" y="4773960"/>
          <a:ext cx="5901480" cy="2699640"/>
        </p:xfrm>
        <a:graphic>
          <a:graphicData uri="http://schemas.openxmlformats.org/drawingml/2006/table">
            <a:tbl>
              <a:tblPr/>
              <a:tblGrid>
                <a:gridCol w="1373400"/>
                <a:gridCol w="4528440"/>
              </a:tblGrid>
              <a:tr h="1332000">
                <a:tc>
                  <a:txBody>
                    <a:bodyPr anchor="t">
                      <a:noAutofit/>
                    </a:bodyPr>
                    <a:p>
                      <a:endParaRPr lang="en-IN" sz="18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noFill/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lang="en-IN" sz="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IN" sz="1600" b="1" u="none" strike="noStrike">
                          <a:solidFill>
                            <a:srgbClr val="C00000"/>
                          </a:solidFill>
                          <a:effectLst/>
                          <a:uFillTx/>
                          <a:latin typeface="Times New Roman"/>
                        </a:rPr>
                        <a:t>Under the Guidance of</a:t>
                      </a:r>
                      <a:endParaRPr lang="en-IN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spcBef>
                          <a:spcPts val="201"/>
                        </a:spcBef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  <a:ea typeface="Cambria"/>
                        </a:rPr>
                        <a:t>Dr.Venkateshwari Ketineni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spcBef>
                          <a:spcPts val="201"/>
                        </a:spcBef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  <a:ea typeface="Cambria"/>
                        </a:rPr>
                        <a:t>Assistant Professor, 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spcBef>
                          <a:spcPts val="201"/>
                        </a:spcBef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  <a:ea typeface="Cambria"/>
                        </a:rPr>
                        <a:t>Department of </a:t>
                      </a:r>
                      <a:r>
                        <a:rPr lang="en-US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Cambria"/>
                        </a:rPr>
                        <a:t>Computer Science and Engineering, 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spcBef>
                          <a:spcPts val="201"/>
                        </a:spcBef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  <a:ea typeface="Cambria"/>
                        </a:rPr>
                        <a:t>KLH CSE Bowrampet Campus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1332000">
                <a:tc>
                  <a:txBody>
                    <a:bodyPr anchor="t">
                      <a:noAutofit/>
                    </a:bodyPr>
                    <a:p>
                      <a:endParaRPr lang="en-IN" sz="18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91440" marR="91440" marT="45720" marB="45720">
                    <a:lnL w="12240">
                      <a:noFill/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133" name="Group 30"/>
          <p:cNvGrpSpPr/>
          <p:nvPr/>
        </p:nvGrpSpPr>
        <p:grpSpPr>
          <a:xfrm>
            <a:off x="386280" y="4539240"/>
            <a:ext cx="306360" cy="279360"/>
            <a:chOff x="386280" y="4539240"/>
            <a:chExt cx="306360" cy="279360"/>
          </a:xfrm>
        </p:grpSpPr>
        <p:sp>
          <p:nvSpPr>
            <p:cNvPr id="134" name="Isosceles Triangle 31"/>
            <p:cNvSpPr/>
            <p:nvPr/>
          </p:nvSpPr>
          <p:spPr>
            <a:xfrm rot="8295000">
              <a:off x="442800" y="4562640"/>
              <a:ext cx="159840" cy="231840"/>
            </a:xfrm>
            <a:prstGeom prst="triangle">
              <a:avLst>
                <a:gd name="adj" fmla="val 50000"/>
              </a:avLst>
            </a:prstGeom>
            <a:solidFill>
              <a:srgbClr val="00B0F0"/>
            </a:solidFill>
            <a:ln>
              <a:solidFill>
                <a:srgbClr val="092A3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79920" tIns="45000" rIns="79920" bIns="45000" anchor="ctr">
              <a:noAutofit/>
            </a:bodyPr>
            <a:p>
              <a:endParaRPr lang="en-IN" sz="1800" b="0" u="none" strike="noStrike">
                <a:solidFill>
                  <a:schemeClr val="lt1"/>
                </a:solidFill>
                <a:effectLst/>
                <a:highlight>
                  <a:srgbClr val="FFFF00"/>
                </a:highlight>
                <a:uFillTx/>
                <a:latin typeface="Aptos"/>
              </a:endParaRPr>
            </a:p>
          </p:txBody>
        </p:sp>
        <p:sp>
          <p:nvSpPr>
            <p:cNvPr id="135" name="Isosceles Triangle 32"/>
            <p:cNvSpPr/>
            <p:nvPr/>
          </p:nvSpPr>
          <p:spPr>
            <a:xfrm rot="11852400">
              <a:off x="559440" y="4590000"/>
              <a:ext cx="113040" cy="152280"/>
            </a:xfrm>
            <a:prstGeom prst="triangle">
              <a:avLst>
                <a:gd name="adj" fmla="val 50000"/>
              </a:avLst>
            </a:prstGeom>
            <a:solidFill>
              <a:srgbClr val="00B0F0"/>
            </a:solidFill>
            <a:ln>
              <a:solidFill>
                <a:srgbClr val="092A3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56520" tIns="31680" rIns="56520" bIns="31680" anchor="ctr">
              <a:noAutofit/>
            </a:bodyPr>
            <a:p>
              <a:endParaRPr lang="en-IN" sz="1800" b="0" u="none" strike="noStrike">
                <a:solidFill>
                  <a:schemeClr val="lt1"/>
                </a:solidFill>
                <a:effectLst/>
                <a:uFillTx/>
                <a:latin typeface="Aptos"/>
              </a:endParaRPr>
            </a:p>
          </p:txBody>
        </p:sp>
      </p:grpSp>
      <p:sp>
        <p:nvSpPr>
          <p:cNvPr id="136" name="PlaceHolder 1"/>
          <p:cNvSpPr>
            <a:spLocks noGrp="1"/>
          </p:cNvSpPr>
          <p:nvPr>
            <p:ph type="dt" idx="70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1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Date:25/08/2026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 type="ftr" idx="71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IN" sz="1200" b="1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200" b="1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SOA Project Review-1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Rectangle: Rounded Corners 3"/>
          <p:cNvSpPr/>
          <p:nvPr/>
        </p:nvSpPr>
        <p:spPr>
          <a:xfrm>
            <a:off x="638280" y="769320"/>
            <a:ext cx="10914480" cy="984600"/>
          </a:xfrm>
          <a:prstGeom prst="roundRect">
            <a:avLst>
              <a:gd name="adj" fmla="val 16667"/>
            </a:avLst>
          </a:prstGeom>
          <a:solidFill>
            <a:srgbClr val="0070C0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IN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9" name="Picture 6"/>
          <p:cNvPicPr/>
          <p:nvPr/>
        </p:nvPicPr>
        <p:blipFill>
          <a:blip r:embed="rId1"/>
          <a:stretch/>
        </p:blipFill>
        <p:spPr>
          <a:xfrm>
            <a:off x="10249560" y="0"/>
            <a:ext cx="1941480" cy="621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0" name="TextBox 13"/>
          <p:cNvSpPr/>
          <p:nvPr/>
        </p:nvSpPr>
        <p:spPr>
          <a:xfrm>
            <a:off x="738360" y="810720"/>
            <a:ext cx="107146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IN" sz="2800" b="1" u="none" strike="noStrike">
                <a:solidFill>
                  <a:schemeClr val="lt1"/>
                </a:solidFill>
                <a:effectLst/>
                <a:uFillTx/>
                <a:latin typeface="Times New Roman"/>
              </a:rPr>
              <a:t>Secure Device Registration And Intelligent Access Control System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Box 16"/>
          <p:cNvSpPr/>
          <p:nvPr/>
        </p:nvSpPr>
        <p:spPr>
          <a:xfrm>
            <a:off x="738360" y="2246760"/>
            <a:ext cx="10714680" cy="58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IN" sz="32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SOA Project Review-1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19E0F3F9-9839-4155-8D03-AA695B188BFA}" type="slidenum">
              <a:t>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dt" idx="72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 type="ftr" idx="73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en-IN" sz="12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144" name="PlaceHolder 3"/>
          <p:cNvSpPr>
            <a:spLocks noGrp="1"/>
          </p:cNvSpPr>
          <p:nvPr>
            <p:ph type="sldNum" idx="74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1200" b="0" u="none" strike="noStrik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FA5FE069-A191-49D5-A99F-623FFB407F88}" type="slidenum">
              <a:rPr lang="en-IN" sz="1200" b="0" u="none" strike="noStrike">
                <a:solidFill>
                  <a:srgbClr val="8B8B8B"/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TextBox 8"/>
          <p:cNvSpPr/>
          <p:nvPr/>
        </p:nvSpPr>
        <p:spPr>
          <a:xfrm>
            <a:off x="3020760" y="173520"/>
            <a:ext cx="5853240" cy="645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  <a:tabLst>
                <a:tab pos="0" algn="l"/>
              </a:tabLst>
            </a:pPr>
            <a:r>
              <a:rPr lang="en-IN" sz="3600" b="1" u="none" strike="noStrike">
                <a:solidFill>
                  <a:srgbClr val="4472C4"/>
                </a:solidFill>
                <a:effectLst/>
                <a:uFillTx/>
                <a:latin typeface="Times New Roman"/>
                <a:ea typeface="Cambria"/>
              </a:rPr>
              <a:t>Outline of Project Work</a:t>
            </a:r>
            <a:endParaRPr lang="en-IN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46" name="Group 7"/>
          <p:cNvGrpSpPr/>
          <p:nvPr/>
        </p:nvGrpSpPr>
        <p:grpSpPr>
          <a:xfrm>
            <a:off x="2001240" y="1378080"/>
            <a:ext cx="6783480" cy="4438080"/>
            <a:chOff x="2001240" y="1378080"/>
            <a:chExt cx="6783480" cy="4438080"/>
          </a:xfrm>
        </p:grpSpPr>
        <p:sp>
          <p:nvSpPr>
            <p:cNvPr id="147" name="TextBox 15"/>
            <p:cNvSpPr/>
            <p:nvPr/>
          </p:nvSpPr>
          <p:spPr>
            <a:xfrm>
              <a:off x="2747160" y="2978640"/>
              <a:ext cx="4266360" cy="9594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FFC000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/>
          </p:style>
          <p:txBody>
            <a:bodyPr lIns="90000" tIns="45000" rIns="90000" bIns="45000" anchor="t">
              <a:spAutoFit/>
            </a:bodyPr>
            <a:p>
              <a:pPr marL="430200" indent="-343080" defTabSz="457200">
                <a:lnSpc>
                  <a:spcPct val="150000"/>
                </a:lnSpc>
                <a:buClr>
                  <a:srgbClr val="FFFFFF"/>
                </a:buClr>
                <a:buFont typeface="Arial"/>
                <a:buChar char="•"/>
                <a:tabLst>
                  <a:tab pos="444600" algn="l"/>
                </a:tabLst>
              </a:pPr>
              <a:r>
                <a:rPr lang="en-US" sz="2000" b="1" u="none" strike="noStrike">
                  <a:solidFill>
                    <a:srgbClr val="FFFFFF"/>
                  </a:solidFill>
                  <a:effectLst/>
                  <a:uFillTx/>
                  <a:latin typeface="Times New Roman"/>
                  <a:ea typeface="Calibri"/>
                </a:rPr>
                <a:t>Challenges</a:t>
              </a:r>
              <a:endParaRPr lang="en-IN" sz="2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457200">
                <a:lnSpc>
                  <a:spcPct val="150000"/>
                </a:lnSpc>
                <a:tabLst>
                  <a:tab pos="444600" algn="l"/>
                </a:tabLst>
              </a:pPr>
              <a:endParaRPr lang="en-IN" sz="2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8" name="TextBox 17"/>
            <p:cNvSpPr/>
            <p:nvPr/>
          </p:nvSpPr>
          <p:spPr>
            <a:xfrm>
              <a:off x="2994480" y="3474720"/>
              <a:ext cx="4373640" cy="87264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FFC000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/>
          </p:style>
          <p:txBody>
            <a:bodyPr lIns="90000" tIns="45000" rIns="90000" bIns="45000" anchor="t">
              <a:spAutoFit/>
            </a:bodyPr>
            <a:p>
              <a:pPr marL="430200" indent="-343080" defTabSz="457200">
                <a:lnSpc>
                  <a:spcPct val="150000"/>
                </a:lnSpc>
                <a:buClr>
                  <a:srgbClr val="FFFFFF"/>
                </a:buClr>
                <a:buFont typeface="Arial"/>
                <a:buChar char="•"/>
                <a:tabLst>
                  <a:tab pos="444600" algn="l"/>
                </a:tabLst>
              </a:pPr>
              <a:r>
                <a:rPr lang="en-US" sz="1800" b="1" u="none" strike="noStrike">
                  <a:solidFill>
                    <a:srgbClr val="FFFFFF"/>
                  </a:solidFill>
                  <a:effectLst/>
                  <a:uFillTx/>
                  <a:latin typeface="Times New Roman"/>
                  <a:ea typeface="Calibri"/>
                </a:rPr>
                <a:t>Research Objectives</a:t>
              </a: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457200">
                <a:lnSpc>
                  <a:spcPct val="150000"/>
                </a:lnSpc>
                <a:tabLst>
                  <a:tab pos="444600" algn="l"/>
                </a:tabLst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9" name="TextBox 19"/>
            <p:cNvSpPr/>
            <p:nvPr/>
          </p:nvSpPr>
          <p:spPr>
            <a:xfrm>
              <a:off x="3211560" y="4054320"/>
              <a:ext cx="4528440" cy="93672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FFC000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/>
          </p:style>
          <p:txBody>
            <a:bodyPr lIns="90000" tIns="45000" rIns="90000" bIns="45000" anchor="t">
              <a:spAutoFit/>
            </a:bodyPr>
            <a:p>
              <a:pPr marL="430200" indent="-343080" defTabSz="457200">
                <a:lnSpc>
                  <a:spcPct val="150000"/>
                </a:lnSpc>
                <a:spcBef>
                  <a:spcPts val="505"/>
                </a:spcBef>
                <a:buClr>
                  <a:srgbClr val="FFFFFF"/>
                </a:buClr>
                <a:buFont typeface="Arial"/>
                <a:buChar char="•"/>
                <a:tabLst>
                  <a:tab pos="444600" algn="l"/>
                </a:tabLst>
              </a:pPr>
              <a:r>
                <a:rPr lang="en-US" sz="1800" b="1" u="none" strike="noStrike">
                  <a:solidFill>
                    <a:srgbClr val="FFFFFF"/>
                  </a:solidFill>
                  <a:effectLst/>
                  <a:uFillTx/>
                  <a:latin typeface="Times New Roman"/>
                  <a:ea typeface="Calibri"/>
                </a:rPr>
                <a:t>Conclusion &amp; Future Work</a:t>
              </a: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457200">
                <a:lnSpc>
                  <a:spcPct val="150000"/>
                </a:lnSpc>
                <a:spcBef>
                  <a:spcPts val="505"/>
                </a:spcBef>
                <a:tabLst>
                  <a:tab pos="444600" algn="l"/>
                </a:tabLst>
              </a:pP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0" name="TextBox 21"/>
            <p:cNvSpPr/>
            <p:nvPr/>
          </p:nvSpPr>
          <p:spPr>
            <a:xfrm>
              <a:off x="3497760" y="4601520"/>
              <a:ext cx="4773600" cy="91872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FFC000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/>
          </p:style>
          <p:txBody>
            <a:bodyPr lIns="90000" tIns="45000" rIns="90000" bIns="45000" anchor="t">
              <a:spAutoFit/>
            </a:bodyPr>
            <a:p>
              <a:pPr marL="430200" indent="-343080" defTabSz="457200">
                <a:lnSpc>
                  <a:spcPct val="150000"/>
                </a:lnSpc>
                <a:spcBef>
                  <a:spcPts val="505"/>
                </a:spcBef>
                <a:buClr>
                  <a:srgbClr val="FFFFFF"/>
                </a:buClr>
                <a:buFont typeface="Arial"/>
                <a:buChar char="•"/>
                <a:tabLst>
                  <a:tab pos="444600" algn="l"/>
                </a:tabLst>
              </a:pPr>
              <a:r>
                <a:rPr lang="en-US" sz="2000" b="1" u="none" strike="noStrike">
                  <a:solidFill>
                    <a:srgbClr val="FFFFFF"/>
                  </a:solidFill>
                  <a:effectLst/>
                  <a:uFillTx/>
                  <a:latin typeface="Times New Roman"/>
                  <a:ea typeface="Calibri"/>
                </a:rPr>
                <a:t>References</a:t>
              </a:r>
              <a:br>
                <a:rPr sz="1800"/>
              </a:br>
              <a:r>
                <a:rPr lang="en-US" sz="1800" b="1" u="none" strike="noStrike">
                  <a:solidFill>
                    <a:srgbClr val="FFFFFF"/>
                  </a:solidFill>
                  <a:effectLst/>
                  <a:uFillTx/>
                  <a:latin typeface="Times New Roman"/>
                  <a:ea typeface="Calibri"/>
                </a:rPr>
                <a:t> </a:t>
              </a: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1" name="TextBox 23"/>
            <p:cNvSpPr/>
            <p:nvPr/>
          </p:nvSpPr>
          <p:spPr>
            <a:xfrm>
              <a:off x="3894120" y="5204520"/>
              <a:ext cx="4890600" cy="61164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FFC000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/>
          </p:style>
          <p:txBody>
            <a:bodyPr lIns="90000" tIns="45000" rIns="90000" bIns="45000" anchor="t">
              <a:spAutoFit/>
            </a:bodyPr>
            <a:p>
              <a:pPr marL="430200" indent="-343080" defTabSz="457200">
                <a:lnSpc>
                  <a:spcPct val="150000"/>
                </a:lnSpc>
                <a:spcBef>
                  <a:spcPts val="505"/>
                </a:spcBef>
                <a:buClr>
                  <a:srgbClr val="FFFFFF"/>
                </a:buClr>
                <a:buFont typeface="Arial"/>
                <a:buChar char="•"/>
                <a:tabLst>
                  <a:tab pos="444600" algn="l"/>
                </a:tabLst>
              </a:pPr>
              <a:r>
                <a:rPr lang="en-US" sz="1800" b="1" u="none" strike="noStrike">
                  <a:solidFill>
                    <a:srgbClr val="FFFFFF"/>
                  </a:solidFill>
                  <a:effectLst/>
                  <a:uFillTx/>
                  <a:latin typeface="Times New Roman"/>
                  <a:ea typeface="Calibri"/>
                </a:rPr>
                <a:t>Publications Details</a:t>
              </a:r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457200">
                <a:lnSpc>
                  <a:spcPct val="150000"/>
                </a:lnSpc>
                <a:spcBef>
                  <a:spcPts val="505"/>
                </a:spcBef>
                <a:tabLst>
                  <a:tab pos="444600" algn="l"/>
                </a:tabLst>
              </a:pPr>
              <a:endParaRPr lang="en-IN" sz="1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52" name="Graphic 6"/>
            <p:cNvPicPr/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/>
          </p:blipFill>
          <p:spPr>
            <a:xfrm flipH="1" rot="21415800">
              <a:off x="8301240" y="4723920"/>
              <a:ext cx="454680" cy="5353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53" name="Content Placeholder 11"/>
            <p:cNvSpPr/>
            <p:nvPr/>
          </p:nvSpPr>
          <p:spPr>
            <a:xfrm>
              <a:off x="2001240" y="1378080"/>
              <a:ext cx="3547080" cy="74808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FFC000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/>
          </p:style>
          <p:txBody>
            <a:bodyPr lIns="90000" tIns="45000" rIns="90000" bIns="45000" anchor="t">
              <a:normAutofit/>
            </a:bodyPr>
            <a:p>
              <a:pPr marL="430200" indent="-343080" defTabSz="914400">
                <a:lnSpc>
                  <a:spcPct val="150000"/>
                </a:lnSpc>
                <a:buClr>
                  <a:srgbClr val="FFFFFF"/>
                </a:buClr>
                <a:buFont typeface="Arial"/>
                <a:buChar char="•"/>
                <a:tabLst>
                  <a:tab pos="444600" algn="l"/>
                </a:tabLst>
              </a:pPr>
              <a:r>
                <a:rPr lang="en-US" sz="2000" b="1" u="none" strike="noStrike">
                  <a:solidFill>
                    <a:srgbClr val="FFFFFF"/>
                  </a:solidFill>
                  <a:effectLst/>
                  <a:uFillTx/>
                  <a:latin typeface="Times New Roman"/>
                  <a:ea typeface="Calibri"/>
                </a:rPr>
                <a:t>Focus</a:t>
              </a:r>
              <a:endParaRPr lang="en-IN" sz="2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50000"/>
                </a:lnSpc>
                <a:tabLst>
                  <a:tab pos="444600" algn="l"/>
                </a:tabLst>
              </a:pPr>
              <a:endParaRPr lang="en-IN" sz="2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50000"/>
                </a:lnSpc>
                <a:tabLst>
                  <a:tab pos="444600" algn="l"/>
                </a:tabLst>
              </a:pPr>
              <a:endParaRPr lang="en-IN" sz="2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50000"/>
                </a:lnSpc>
                <a:tabLst>
                  <a:tab pos="444600" algn="l"/>
                </a:tabLst>
              </a:pPr>
              <a:endParaRPr lang="en-IN" sz="2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50000"/>
                </a:lnSpc>
                <a:tabLst>
                  <a:tab pos="444600" algn="l"/>
                </a:tabLst>
              </a:pPr>
              <a:endParaRPr lang="en-IN" sz="2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50000"/>
                </a:lnSpc>
                <a:spcBef>
                  <a:spcPts val="505"/>
                </a:spcBef>
                <a:tabLst>
                  <a:tab pos="444600" algn="l"/>
                </a:tabLst>
              </a:pPr>
              <a:endParaRPr lang="en-IN" sz="2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30000"/>
                </a:lnSpc>
                <a:spcBef>
                  <a:spcPts val="505"/>
                </a:spcBef>
                <a:tabLst>
                  <a:tab pos="444600" algn="l"/>
                </a:tabLst>
              </a:pPr>
              <a:endParaRPr lang="en-IN" sz="22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30000"/>
                </a:lnSpc>
                <a:spcBef>
                  <a:spcPts val="505"/>
                </a:spcBef>
                <a:tabLst>
                  <a:tab pos="444600" algn="l"/>
                </a:tabLst>
              </a:pPr>
              <a:endParaRPr lang="en-IN" sz="22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  <a:tabLst>
                  <a:tab pos="444600" algn="l"/>
                </a:tabLst>
              </a:pPr>
              <a:endParaRPr lang="en-IN" sz="2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4" name="Content Placeholder 11"/>
            <p:cNvSpPr/>
            <p:nvPr/>
          </p:nvSpPr>
          <p:spPr>
            <a:xfrm>
              <a:off x="2281680" y="1939320"/>
              <a:ext cx="3885120" cy="66528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FFC000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/>
          </p:style>
          <p:txBody>
            <a:bodyPr lIns="90000" tIns="45000" rIns="90000" bIns="45000" anchor="t">
              <a:normAutofit/>
            </a:bodyPr>
            <a:p>
              <a:pPr marL="430200" indent="-343080" defTabSz="914400">
                <a:lnSpc>
                  <a:spcPct val="150000"/>
                </a:lnSpc>
                <a:buClr>
                  <a:srgbClr val="FFFFFF"/>
                </a:buClr>
                <a:buFont typeface="Arial"/>
                <a:buChar char="•"/>
                <a:tabLst>
                  <a:tab pos="444600" algn="l"/>
                </a:tabLst>
              </a:pPr>
              <a:r>
                <a:rPr lang="en-US" sz="2000" b="1" u="none" strike="noStrike">
                  <a:solidFill>
                    <a:srgbClr val="FFFFFF"/>
                  </a:solidFill>
                  <a:effectLst/>
                  <a:uFillTx/>
                  <a:latin typeface="Times New Roman"/>
                  <a:ea typeface="Calibri"/>
                </a:rPr>
                <a:t>Introduction</a:t>
              </a:r>
              <a:endParaRPr lang="en-IN" sz="2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50000"/>
                </a:lnSpc>
                <a:tabLst>
                  <a:tab pos="444600" algn="l"/>
                </a:tabLst>
              </a:pPr>
              <a:endParaRPr lang="en-IN" sz="2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50000"/>
                </a:lnSpc>
                <a:tabLst>
                  <a:tab pos="444600" algn="l"/>
                </a:tabLst>
              </a:pPr>
              <a:endParaRPr lang="en-IN" sz="2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50000"/>
                </a:lnSpc>
                <a:tabLst>
                  <a:tab pos="444600" algn="l"/>
                </a:tabLst>
              </a:pPr>
              <a:endParaRPr lang="en-IN" sz="2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50000"/>
                </a:lnSpc>
                <a:tabLst>
                  <a:tab pos="444600" algn="l"/>
                </a:tabLst>
              </a:pPr>
              <a:endParaRPr lang="en-IN" sz="2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50000"/>
                </a:lnSpc>
                <a:spcBef>
                  <a:spcPts val="505"/>
                </a:spcBef>
                <a:tabLst>
                  <a:tab pos="444600" algn="l"/>
                </a:tabLst>
              </a:pPr>
              <a:endParaRPr lang="en-IN" sz="2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30000"/>
                </a:lnSpc>
                <a:spcBef>
                  <a:spcPts val="505"/>
                </a:spcBef>
                <a:tabLst>
                  <a:tab pos="444600" algn="l"/>
                </a:tabLst>
              </a:pPr>
              <a:endParaRPr lang="en-IN" sz="22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30000"/>
                </a:lnSpc>
                <a:spcBef>
                  <a:spcPts val="505"/>
                </a:spcBef>
                <a:tabLst>
                  <a:tab pos="444600" algn="l"/>
                </a:tabLst>
              </a:pPr>
              <a:endParaRPr lang="en-IN" sz="22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  <a:tabLst>
                  <a:tab pos="444600" algn="l"/>
                </a:tabLst>
              </a:pPr>
              <a:endParaRPr lang="en-IN" sz="2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55" name="Graphic 35"/>
            <p:cNvPicPr/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/>
          </p:blipFill>
          <p:spPr>
            <a:xfrm flipH="1" rot="21415800">
              <a:off x="7755480" y="4080240"/>
              <a:ext cx="454680" cy="5353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56" name="Graphic 36"/>
            <p:cNvPicPr/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/>
          </p:blipFill>
          <p:spPr>
            <a:xfrm flipH="1" rot="21415800">
              <a:off x="7301880" y="3534840"/>
              <a:ext cx="454680" cy="5353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57" name="Graphic 37"/>
            <p:cNvPicPr/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/>
          </p:blipFill>
          <p:spPr>
            <a:xfrm flipH="1" rot="21415800">
              <a:off x="6935400" y="2921760"/>
              <a:ext cx="454680" cy="5353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58" name="Graphic 38"/>
            <p:cNvPicPr/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/>
          </p:blipFill>
          <p:spPr>
            <a:xfrm flipH="1" rot="21415800">
              <a:off x="6514920" y="2488320"/>
              <a:ext cx="454680" cy="5353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59" name="Graphic 39"/>
            <p:cNvPicPr/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/>
          </p:blipFill>
          <p:spPr>
            <a:xfrm flipH="1" rot="21415800">
              <a:off x="6112080" y="1973880"/>
              <a:ext cx="454680" cy="5353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60" name="Graphic 40"/>
            <p:cNvPicPr/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/>
          </p:blipFill>
          <p:spPr>
            <a:xfrm flipH="1" rot="21415800">
              <a:off x="5698080" y="1442520"/>
              <a:ext cx="454680" cy="5353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61" name="TextBox 13"/>
            <p:cNvSpPr/>
            <p:nvPr/>
          </p:nvSpPr>
          <p:spPr>
            <a:xfrm>
              <a:off x="2562120" y="2494800"/>
              <a:ext cx="4003200" cy="5058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rgbClr val="FFC000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/>
          </p:style>
          <p:txBody>
            <a:bodyPr lIns="90000" tIns="45000" rIns="90000" bIns="45000" anchor="t">
              <a:spAutoFit/>
            </a:bodyPr>
            <a:p>
              <a:pPr marL="430200" indent="-343080" defTabSz="457200">
                <a:lnSpc>
                  <a:spcPct val="150000"/>
                </a:lnSpc>
                <a:buClr>
                  <a:srgbClr val="FFFFFF"/>
                </a:buClr>
                <a:buFont typeface="Arial"/>
                <a:buChar char="•"/>
                <a:tabLst>
                  <a:tab pos="444600" algn="l"/>
                </a:tabLst>
              </a:pPr>
              <a:r>
                <a:rPr lang="en-US" sz="2040" b="1" u="none" strike="noStrike">
                  <a:solidFill>
                    <a:srgbClr val="FFFFFF"/>
                  </a:solidFill>
                  <a:effectLst/>
                  <a:uFillTx/>
                  <a:latin typeface="Times New Roman"/>
                  <a:ea typeface="Calibri"/>
                </a:rPr>
                <a:t>Literature Survey</a:t>
              </a:r>
              <a:endParaRPr lang="en-IN" sz="204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aphicFrame>
        <p:nvGraphicFramePr>
          <p:cNvPr id="162" name="Diagram1"/>
          <p:cNvGraphicFramePr/>
          <p:nvPr>
            <p:extLst>
              <p:ext uri="{D42A27DB-BD31-4B8C-83A1-F6EECF244321}">
                <p14:modId xmlns:p14="http://schemas.microsoft.com/office/powerpoint/2010/main" val="297596243"/>
              </p:ext>
            </p:extLst>
          </p:nvPr>
        </p:nvGraphicFramePr>
        <p:xfrm>
          <a:off x="41400" y="115560"/>
          <a:ext cx="1473480" cy="941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5" r:lo="rId16" r:qs="rId17" r:cs="rId18"/>
          </a:graphicData>
        </a:graphic>
      </p:graphicFrame>
      <p:pic>
        <p:nvPicPr>
          <p:cNvPr id="163" name="Picture 9"/>
          <p:cNvPicPr/>
          <p:nvPr/>
        </p:nvPicPr>
        <p:blipFill>
          <a:blip r:embed="rId19"/>
          <a:stretch/>
        </p:blipFill>
        <p:spPr>
          <a:xfrm>
            <a:off x="10249560" y="0"/>
            <a:ext cx="1900080" cy="621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TextBox 4"/>
          <p:cNvSpPr/>
          <p:nvPr/>
        </p:nvSpPr>
        <p:spPr>
          <a:xfrm>
            <a:off x="3992040" y="482400"/>
            <a:ext cx="6094800" cy="64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Problem Statement</a:t>
            </a:r>
            <a:endParaRPr lang="en-IN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5" name="Picture 2"/>
          <p:cNvPicPr/>
          <p:nvPr/>
        </p:nvPicPr>
        <p:blipFill>
          <a:blip r:embed="rId1"/>
          <a:stretch/>
        </p:blipFill>
        <p:spPr>
          <a:xfrm>
            <a:off x="10249560" y="0"/>
            <a:ext cx="1941480" cy="621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6" name=""/>
          <p:cNvSpPr/>
          <p:nvPr/>
        </p:nvSpPr>
        <p:spPr>
          <a:xfrm>
            <a:off x="1440000" y="1800000"/>
            <a:ext cx="9359280" cy="395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IN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Traditional access-control systems primarily rely on </a:t>
            </a:r>
            <a:r>
              <a:rPr lang="en-IN" sz="13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usernames, passwords, and predefined permissions</a:t>
            </a:r>
            <a:r>
              <a:rPr lang="en-IN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However, valid credentials do not necessarily indicate that the requesting device is trustworthy.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legitimate account may be accessed from: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 unknown or unregistered device 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compromised device 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revoked device 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device exhibiting suspicious behavior 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Existing access mechanisms may therefore fail to consider the trustworthiness of the device and the context of the access request.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TextBox 4"/>
          <p:cNvSpPr/>
          <p:nvPr/>
        </p:nvSpPr>
        <p:spPr>
          <a:xfrm>
            <a:off x="3048120" y="469080"/>
            <a:ext cx="6094800" cy="64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Objectives</a:t>
            </a:r>
            <a:endParaRPr lang="en-IN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8" name="Picture 2"/>
          <p:cNvPicPr/>
          <p:nvPr/>
        </p:nvPicPr>
        <p:blipFill>
          <a:blip r:embed="rId1"/>
          <a:stretch/>
        </p:blipFill>
        <p:spPr>
          <a:xfrm>
            <a:off x="10249560" y="0"/>
            <a:ext cx="1941480" cy="621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9" name=""/>
          <p:cNvSpPr/>
          <p:nvPr/>
        </p:nvSpPr>
        <p:spPr>
          <a:xfrm>
            <a:off x="1980000" y="1555560"/>
            <a:ext cx="8099280" cy="39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arenR"/>
            </a:pPr>
            <a:r>
              <a:rPr lang="en-IN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Develop a </a:t>
            </a:r>
            <a:r>
              <a:rPr lang="en-IN" sz="1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secure</a:t>
            </a:r>
            <a:r>
              <a:rPr lang="en-IN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mechanism for device registration and management. 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arenR"/>
            </a:pPr>
            <a:r>
              <a:rPr lang="en-IN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Generate and verify a unique device </a:t>
            </a:r>
            <a:r>
              <a:rPr lang="en-IN" sz="1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fingerprint</a:t>
            </a:r>
            <a:r>
              <a:rPr lang="en-IN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during access requests. 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arenR"/>
            </a:pPr>
            <a:r>
              <a:rPr lang="en-IN" sz="1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Authenticate</a:t>
            </a:r>
            <a:r>
              <a:rPr lang="en-IN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users before granting access to </a:t>
            </a:r>
            <a:r>
              <a:rPr lang="en-IN" sz="1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protected</a:t>
            </a:r>
            <a:r>
              <a:rPr lang="en-IN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resources. 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arenR"/>
            </a:pPr>
            <a:r>
              <a:rPr lang="en-IN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Develop a dynamic </a:t>
            </a:r>
            <a:r>
              <a:rPr lang="en-IN" sz="1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risk-scoring </a:t>
            </a:r>
            <a:r>
              <a:rPr lang="en-IN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mechanism based on multiple contextual factors. 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arenR"/>
            </a:pPr>
            <a:r>
              <a:rPr lang="en-IN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Detect </a:t>
            </a:r>
            <a:r>
              <a:rPr lang="en-IN" sz="1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suspicious</a:t>
            </a:r>
            <a:r>
              <a:rPr lang="en-IN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access behavior and potential security threats. 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arenR"/>
            </a:pPr>
            <a:r>
              <a:rPr lang="en-IN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Implement </a:t>
            </a:r>
            <a:r>
              <a:rPr lang="en-IN" sz="1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policy-based</a:t>
            </a:r>
            <a:r>
              <a:rPr lang="en-IN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allow/deny access decisions. 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arenR"/>
            </a:pPr>
            <a:r>
              <a:rPr lang="en-IN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Maintain centralized </a:t>
            </a:r>
            <a:r>
              <a:rPr lang="en-IN" sz="1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audit logs</a:t>
            </a:r>
            <a:r>
              <a:rPr lang="en-IN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and security events. 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arenR"/>
            </a:pPr>
            <a:r>
              <a:rPr lang="en-IN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Provide </a:t>
            </a:r>
            <a:r>
              <a:rPr lang="en-IN" sz="1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administrators</a:t>
            </a:r>
            <a:r>
              <a:rPr lang="en-IN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with a security monitoring dashboard. 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arenR"/>
            </a:pPr>
            <a:r>
              <a:rPr lang="en-IN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Implement the system using SOA and </a:t>
            </a:r>
            <a:r>
              <a:rPr lang="en-IN" sz="1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independent microservices</a:t>
            </a:r>
            <a:r>
              <a:rPr lang="en-IN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communicating through APIs.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TextBox 4"/>
          <p:cNvSpPr/>
          <p:nvPr/>
        </p:nvSpPr>
        <p:spPr>
          <a:xfrm>
            <a:off x="3048120" y="600120"/>
            <a:ext cx="6094800" cy="64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Problem Gap Identification</a:t>
            </a:r>
            <a:endParaRPr lang="en-IN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1" name="Picture 2"/>
          <p:cNvPicPr/>
          <p:nvPr/>
        </p:nvPicPr>
        <p:blipFill>
          <a:blip r:embed="rId1"/>
          <a:stretch/>
        </p:blipFill>
        <p:spPr>
          <a:xfrm>
            <a:off x="10249560" y="0"/>
            <a:ext cx="1941480" cy="621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2" name=""/>
          <p:cNvSpPr/>
          <p:nvPr/>
        </p:nvSpPr>
        <p:spPr>
          <a:xfrm>
            <a:off x="1080000" y="1980000"/>
            <a:ext cx="10439280" cy="250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I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Gap 1 — Device + User Context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Traditional authentication primarily verifies the user, while device-aware approaches may focus mainly on identifying the device.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Gap 2 — Static vs Dynamic Decisions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Many access-control systems rely on predefined permissions rather than continuously evaluating contextual risk.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Gap 3 — Limited Integration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Device fingerprinting, authentication, risk evaluation and suspicious-activity detection are not always integrated into one access-decision pipeline.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Gap 4 — Centralized Monitoring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Security events from different components may not be available through a unified administrative dashboard.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TextBox 4"/>
          <p:cNvSpPr/>
          <p:nvPr/>
        </p:nvSpPr>
        <p:spPr>
          <a:xfrm>
            <a:off x="1893240" y="567360"/>
            <a:ext cx="84049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Innovation, Creativity, and Novelty</a:t>
            </a:r>
            <a:endParaRPr lang="en-IN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4" name="Picture 2"/>
          <p:cNvPicPr/>
          <p:nvPr/>
        </p:nvPicPr>
        <p:blipFill>
          <a:blip r:embed="rId1"/>
          <a:stretch/>
        </p:blipFill>
        <p:spPr>
          <a:xfrm>
            <a:off x="10249560" y="0"/>
            <a:ext cx="1941480" cy="621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5" name=""/>
          <p:cNvSpPr/>
          <p:nvPr/>
        </p:nvSpPr>
        <p:spPr>
          <a:xfrm>
            <a:off x="900000" y="1620000"/>
            <a:ext cx="10439280" cy="409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IN" sz="1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Innovation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lang="en-IN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Combines device fingerprinting, user authentication, and dynamic risk scoring for smarter access decisions.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lang="en-IN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Integrates suspicious-activity detection with real-time security monitoring.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</a:pP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I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Creativity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lang="en-IN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Uses multiple contextual factors to dynamically evaluate the trust level of every access request.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lang="en-IN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Provides a centralized dashboard for monitoring devices, risks, alerts, and access events.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</a:pP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I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Novelty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lang="en-IN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Introduces an integrated device-aware and risk-adaptive access-control framework using SOA/microservices.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lang="en-IN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Combines device trust, user identity, behavioral risk, and resource sensitivity into a unified access decision.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TextBox 4"/>
          <p:cNvSpPr/>
          <p:nvPr/>
        </p:nvSpPr>
        <p:spPr>
          <a:xfrm>
            <a:off x="2615400" y="551160"/>
            <a:ext cx="7232760" cy="70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40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Feasibility and Project Plan</a:t>
            </a:r>
            <a:endParaRPr lang="en-IN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Box 1"/>
          <p:cNvSpPr/>
          <p:nvPr/>
        </p:nvSpPr>
        <p:spPr>
          <a:xfrm>
            <a:off x="1381320" y="1743840"/>
            <a:ext cx="107222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8" name="Picture 3"/>
          <p:cNvPicPr/>
          <p:nvPr/>
        </p:nvPicPr>
        <p:blipFill>
          <a:blip r:embed="rId1"/>
          <a:stretch/>
        </p:blipFill>
        <p:spPr>
          <a:xfrm>
            <a:off x="10249560" y="0"/>
            <a:ext cx="1941480" cy="621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9" name=""/>
          <p:cNvSpPr/>
          <p:nvPr/>
        </p:nvSpPr>
        <p:spPr>
          <a:xfrm>
            <a:off x="1260000" y="1620000"/>
            <a:ext cx="8639280" cy="264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I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Week 1</a:t>
            </a:r>
            <a:r>
              <a:rPr lang="en-I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Requirements + Literature Survey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Week 2</a:t>
            </a:r>
            <a:r>
              <a:rPr lang="en-I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Architecture + Database + API Design 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Weeks 3–4</a:t>
            </a:r>
            <a:r>
              <a:rPr lang="en-I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Core Microservices 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Weeks 4–5</a:t>
            </a:r>
            <a:r>
              <a:rPr lang="en-I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Risk Scoring + Security 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Weeks 5–6</a:t>
            </a:r>
            <a:r>
              <a:rPr lang="en-I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Dashboard + Integration 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Weeks 6–7</a:t>
            </a:r>
            <a:r>
              <a:rPr lang="en-I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Testing 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Weeks 7–8</a:t>
            </a:r>
            <a:r>
              <a:rPr lang="en-I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Documentation + Final Presentation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83</TotalTime>
  <Application>LibreOffice/26.2.5.2$Linux_X86_64 LibreOffice_project/620$Build-2</Application>
  <AppVersion>15.0000</AppVersion>
  <Words>204</Words>
  <Paragraphs>61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2026-08-08T06:33:56Z</dcterms:created>
  <dc:creator>srikanth ch</dc:creator>
  <dc:description/>
  <dc:language>en-IN</dc:language>
  <cp:lastModifiedBy/>
  <dcterms:modified xsi:type="dcterms:W3CDTF">2026-08-27T08:48:07Z</dcterms:modified>
  <cp:revision>36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</vt:i4>
  </property>
  <property fmtid="{D5CDD505-2E9C-101B-9397-08002B2CF9AE}" pid="3" name="PresentationFormat">
    <vt:lpwstr>Widescreen</vt:lpwstr>
  </property>
  <property fmtid="{D5CDD505-2E9C-101B-9397-08002B2CF9AE}" pid="4" name="Slides">
    <vt:i4>8</vt:i4>
  </property>
</Properties>
</file>